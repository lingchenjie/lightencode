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大家好，欢迎参加本次《ISO 8583报文详解》培训。在接下来的时间里，我们将一起深入了解金融交易中最核心的报文标准——ISO 8583。无论你是开发、测试还是技术支持，理解它都是开展支付相关工作的基础。本次培训将从报文结构、核心元素到组包解包流程，带你一步步揭开它的神秘面纱。希望通过这次学习，大家都能看懂并处理常见的报文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在开始之前，我们先明确一下本次培训的目标。学完这节课，大家应该能够回答这四个核心问题。首先，要明白ISO 8583到底是什么，它解决了什么问题。其次，要能识别报文的三个核心组成部分：MTI、位图和数据域。接着，我们会探讨数据长度和编码方式这两个关键技术点。最后，大家需要掌握基本的组包解包流程，并能利用今天学到的知识，去定位一些常见的报文格式问题。希望大家带着这些目标来学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我们需要明确ISO 8583的职责范围。它主要负责定义报文的结构，包括消息类型、位图和数据域。但它并不负责所有事情。比如，数据如何通过网络传输（这是TCP/HTTP的事）、如何管理连接、具体的安全规则和清算方式等，这些都由具体的支付网络或渠道来规定。因此，在实际开发中，我们不仅要理解ISO 8583的基本原理，更要仔细阅读具体的渠道接口规范。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在实际应用中，我们看到的报文往往比标准的ISO 8583要复杂。这是因为在核心报文外面，通常还有一层渠道自定义的封装。这层封装可能包含报文长度(Length)、传输协议数据单元(TPDU)和一些头信息(Header)。这些都不是ISO 8583标准规定的，而是各个渠道自己定义的。我们需要先剥离这层封装，才能看到真正的ISO 8583核心报文。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TI，也就是消息类型指示符，是报文的“身份证”。它由四位数字组成，每一位都有特定的含义。以常见的0200为例，第一位0代表版本，第二位2代表这是一个金融交易类消息，第三位0表示这是一个请求，第四位0表示发起方是收单方。通过这四位数字，我们就能对这条消息的性质有一个基本的判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TI通常是成对出现的。比如，我们发送一个0200的金融交易请求，期望收到一个0210的响应。同样，0100的授权请求对应0110的响应。这里要特别注意0400，它是冲正请求，通常在交易超时或结果不确定时使用，和持卡人主动发起的消费撤销是不同的概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位图是ISO 8583中非常关键的部分，它决定了报文中包含哪些数据域。一个标准的主位图有64位，每一位对应一个数据域。第一位比较特殊，它用来表示是否存在第二位图。如果第一位是1，说明还有一个64位的第二位图，用来表示65到128号数据域。通过位图，接收方就能准确知道接下来要解析哪些字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位图是如何生成的呢？其实很简单。我们先确定这次交易需要哪些数据域，比如DE3、DE4、DE11等等。然后，在位图的对应位置上把bit设为1。比如，我们要包含DE3和DE4，就把位图的第3位和第4位设为1。最后，把这个二进制的位图转换成十六进制，就得到了我们在报文中看到的Bitmap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位图，我们来看看具体有哪些常用的数据域。这张表格列出了一些最常见的。比如DE2是卡号，DE3是处理码，DE4是金额，DE11是POS机上的流水号，也叫系统跟踪号，用于关联请求和响应。DE12和DE13分别是交易的时间和日期。DE22则说明了卡是通过磁条、IC卡还是手工输入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交易基本信息，还有一些域用于标识终端、处理响应和保证安全。比如DE41是终端号，DE42是商户号。DE39是应答码，告诉我们交易成功还是失败。而DE64或DE128则存放着MAC，也就是报文验证码，用于确保报文在传输过程中没有被篡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域的长度主要有三种表示方式：定长(FIX)、两位长度(LLVAR)和三位长度(LLLVAR)。定长很简单，字段长度是固定的。变长则需要在数据前面加一个长度标识。LLVAR用两位数字表示长度，最大99；LLLVAR用三位，最大999。这里要特别注意，长度单位、对齐方式和补零规则，都必须严格按照接口规范来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有一个常见的误区：认为“两位长度”就一定占两个字节。其实不然。长度指示符本身也有编码方式。比如，表示长度为16，用ASCII编码就是字符"16"，占两个字节；但用BCD编码，就是一个字节0x16。同样，数据部分的编码方式也会影响最终的字节数。所以，在解析变长域时，必须同时关注长度头和数据本身的编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SCII是我们最熟悉的字符编码之一。它的特点是每个字符都用一个字节来表示。比如字符串"0200"，每个字符'0'和'2'都分别对应一个字节，所以总共占4个字节。我们在日志里看到的HEX值，比如30，其实就是字符'0'的ASCII编码的十六进制表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BCD编码是金融领域非常常用的一种编码方式，它专门用来表示十进制数字。最常见的是8421 BCD，它用4个bit来表示一个数字。这4个bit的权值分别是8、4、2、1。比如数字9，它的编码是1001，也就是8+1。这种编码方式非常节省空间，两个数字可以挤在一个字节里。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Packed BCD是BCD编码的一种紧凑形式，它把两个4-bit的BCD编码合并到一个字节里。比如数字串"0200"，转换成Packed BCD后就是两个字节。但如果遇到奇数位的数字，比如"12345"，就需要补位。至于是在左边补还是右边补，补0还是补F，这没有统一标准，必须看具体的接口规范。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经常在日志里看到HEX字符串，比如"30"。但我们需要清楚，HEX只是一种显示方式，它和原始的二进制数据是两回事。一个字节的原始数据0x30，在日志里显示为"30"。但如果我们在代码里直接写字符串"30"，它实际上是两个字节：0x33和0x30。混淆这两者是导致很多错误的原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一个完整的消费请求示例。MTI是0200，表示这是一个金融交易请求。然后是各种数据域：DE3是处理码，DE4是金额，DE11是流水号，DE41和DE42是终端号和商户号。最后是DE64，存放着MAC。大家可以看到，一个看似复杂的报文，其实就是按照MTI、位图、数据域的顺序，把交易信息一个个填进去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组包时，数据域的顺序非常重要。它们必须按照域号从小到大的顺序排列。比如，我们要发送DE3、DE4、DE11，那就必须先写DE3，再写DE4，最后写DE11。这个顺序是由Bitmap决定的，而Bitmap又是由实际存在的字段决定的。所以，组包的过程是：先确定字段，再生成Bitmap，最后按顺序写入字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生成一条报文的过程，我们称之为“组包”。这个过程可以分为两个主要阶段：业务组装和字节编码。首先，我们根据业务需求选择MTI和需要的字段。然后，对这些字段的数据进行校验。接着，根据字段生成Bitmap，并将所有数据转换为字节。最后，计算MAC，并加上渠道要求的封装头，就可以发送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包是组包的逆过程。收到报文后，我们首先要剥离渠道封装，然后读取MTI和Bitmap。有了Bitmap，我们就知道接下来要解析哪些字段，以及每个字段的长度和编码方式。解析完所有字段后，最重要的一步是校验MAC，确保数据在传输过程中没有被修改。如果发现字段解析错位，通常是因为前面某个变长字段的长度头或编码搞错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发送了请求，收到了响应，是不是就代表交易成功了呢？不一定。收到响应只说明网络通信是通的。要判断业务是否成功，我们需要从三个层次来分析：通信层、报文层和业务层。即使报文层校验都通过了，我们还需要看DE39应答码。但要记住，DE39也不是判断最终状态的唯一标准，特别是在超时或网络中断的情况下，交易状态可能是未知的，需要后续的查询或对账来确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好了，我们来总结一下今天的内容。ISO 8583的核心就是这几点：它是一个共同的表达框架，MTI定类型，位图定内容，数据域存信息，而长度和编码是最容易出错的地方。最后，我们来做个小练习。这里有一条响应报文，大家可以思考一下这四个问题。第一个问题，MTI是0210，这是一个响应。第二个，Bitmap告诉我们包含哪些域。第三个，如果DE41解析错了，我们应该先检查前面的字段。第四个，DE39=05通常表示拒绝，但最终解释必须以渠道规范为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svg"/><Relationship Id="rId7" Type="http://schemas.openxmlformats.org/officeDocument/2006/relationships/image" Target="../media/image37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4" Type="http://schemas.openxmlformats.org/officeDocument/2006/relationships/notesSlide" Target="../notesSlides/notesSlide19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24.svg"/><Relationship Id="rId11" Type="http://schemas.openxmlformats.org/officeDocument/2006/relationships/image" Target="../media/image23.png"/><Relationship Id="rId10" Type="http://schemas.openxmlformats.org/officeDocument/2006/relationships/image" Target="../media/image40.svg"/><Relationship Id="rId1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image" Target="../media/image6.svg"/><Relationship Id="rId7" Type="http://schemas.openxmlformats.org/officeDocument/2006/relationships/image" Target="../media/image45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42.svg"/><Relationship Id="rId14" Type="http://schemas.openxmlformats.org/officeDocument/2006/relationships/notesSlide" Target="../notesSlides/notesSlide20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24.svg"/><Relationship Id="rId11" Type="http://schemas.openxmlformats.org/officeDocument/2006/relationships/image" Target="../media/image23.png"/><Relationship Id="rId10" Type="http://schemas.openxmlformats.org/officeDocument/2006/relationships/image" Target="../media/image47.svg"/><Relationship Id="rId1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png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6.svg"/><Relationship Id="rId3" Type="http://schemas.openxmlformats.org/officeDocument/2006/relationships/image" Target="../media/image45.png"/><Relationship Id="rId2" Type="http://schemas.openxmlformats.org/officeDocument/2006/relationships/image" Target="../media/image40.svg"/><Relationship Id="rId18" Type="http://schemas.openxmlformats.org/officeDocument/2006/relationships/notesSlide" Target="../notesSlides/notesSlide21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38.svg"/><Relationship Id="rId15" Type="http://schemas.openxmlformats.org/officeDocument/2006/relationships/image" Target="../media/image37.png"/><Relationship Id="rId14" Type="http://schemas.openxmlformats.org/officeDocument/2006/relationships/image" Target="../media/image55.svg"/><Relationship Id="rId13" Type="http://schemas.openxmlformats.org/officeDocument/2006/relationships/image" Target="../media/image54.png"/><Relationship Id="rId12" Type="http://schemas.openxmlformats.org/officeDocument/2006/relationships/image" Target="../media/image53.svg"/><Relationship Id="rId11" Type="http://schemas.openxmlformats.org/officeDocument/2006/relationships/image" Target="../media/image52.png"/><Relationship Id="rId10" Type="http://schemas.openxmlformats.org/officeDocument/2006/relationships/image" Target="../media/image51.svg"/><Relationship Id="rId1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286000"/>
            <a:ext cx="698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ISO 8583 报文详解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4191000"/>
            <a:ext cx="660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200" b="0" i="0" u="none" strike="noStrike">
                <a:solidFill>
                  <a:srgbClr val="666666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从报文结构、数据编码到组包与解包的全流程解析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762000"/>
            <a:ext cx="2540000" cy="2540000"/>
          </a:xfrm>
          <a:prstGeom prst="ellipse">
            <a:avLst/>
          </a:prstGeom>
          <a:solidFill>
            <a:srgbClr val="FF6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461000"/>
            <a:ext cx="1905000" cy="1905000"/>
          </a:xfrm>
          <a:prstGeom prst="ellipse">
            <a:avLst/>
          </a:prstGeom>
          <a:solidFill>
            <a:srgbClr val="FF6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学完后，你应该能看懂一笔交易报文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651000"/>
            <a:ext cx="5232400" cy="1778000"/>
          </a:xfrm>
          <a:prstGeom prst="roundRect">
            <a:avLst>
              <a:gd name="adj" fmla="val 0"/>
            </a:avLst>
          </a:prstGeom>
          <a:solidFill>
            <a:srgbClr val="FF6000">
              <a:alpha val="4000"/>
            </a:srgbClr>
          </a:solidFill>
          <a:ln w="12700" cap="flat" cmpd="sng">
            <a:solidFill>
              <a:srgbClr val="FF6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11200" y="1651000"/>
            <a:ext cx="50800" cy="17780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796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25600" y="1879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01 理解标准本质与价值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413000"/>
            <a:ext cx="44196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59595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理解 ISO 8583 的价值与作用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48400" y="1651000"/>
            <a:ext cx="5232400" cy="1778000"/>
          </a:xfrm>
          <a:prstGeom prst="roundRect">
            <a:avLst>
              <a:gd name="adj" fmla="val 0"/>
            </a:avLst>
          </a:prstGeom>
          <a:solidFill>
            <a:srgbClr val="FF6000">
              <a:alpha val="4000"/>
            </a:srgbClr>
          </a:solidFill>
          <a:ln w="12700" cap="flat" cmpd="sng">
            <a:solidFill>
              <a:srgbClr val="FF6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48400" y="1651000"/>
            <a:ext cx="50800" cy="17780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3200" y="18796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62800" y="1879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02 拆解报文核心结构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53200" y="2413000"/>
            <a:ext cx="44196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59595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识别 MTI、Bitmap、数据域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11200" y="3810000"/>
            <a:ext cx="5232400" cy="1778000"/>
          </a:xfrm>
          <a:prstGeom prst="roundRect">
            <a:avLst>
              <a:gd name="adj" fmla="val 0"/>
            </a:avLst>
          </a:prstGeom>
          <a:solidFill>
            <a:srgbClr val="FF6000">
              <a:alpha val="4000"/>
            </a:srgbClr>
          </a:solidFill>
          <a:ln w="12700" cap="flat" cmpd="sng">
            <a:solidFill>
              <a:srgbClr val="FF6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11200" y="3810000"/>
            <a:ext cx="50800" cy="17780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0386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25600" y="4038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03 掌握编码与长度规则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4572000"/>
            <a:ext cx="44196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59595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区分长度类型与编码方式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48400" y="3810000"/>
            <a:ext cx="5232400" cy="1778000"/>
          </a:xfrm>
          <a:prstGeom prst="roundRect">
            <a:avLst>
              <a:gd name="adj" fmla="val 0"/>
            </a:avLst>
          </a:prstGeom>
          <a:solidFill>
            <a:srgbClr val="FF6000">
              <a:alpha val="4000"/>
            </a:srgbClr>
          </a:solidFill>
          <a:ln w="12700" cap="flat" cmpd="sng">
            <a:solidFill>
              <a:srgbClr val="FF6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48400" y="3810000"/>
            <a:ext cx="50800" cy="17780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53200" y="4038600"/>
            <a:ext cx="457200" cy="457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62800" y="4038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04 组包解包与问题定位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53200" y="4572000"/>
            <a:ext cx="44196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59595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掌握基础组包、解包与排错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>
            <a:spLocks noGrp="1"/>
          </p:cNvSpPr>
          <p:nvPr/>
        </p:nvSpPr>
        <p:spPr>
          <a:xfrm>
            <a:off x="10414000" y="-762000"/>
            <a:ext cx="2540000" cy="2540000"/>
          </a:xfrm>
          <a:prstGeom prst="ellipse">
            <a:avLst/>
          </a:prstGeom>
          <a:solidFill>
            <a:srgbClr val="FF6000">
              <a:alpha val="8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4" name="AutoShape 3"/>
          <p:cNvSpPr>
            <a:spLocks noGrp="1"/>
          </p:cNvSpPr>
          <p:nvPr/>
        </p:nvSpPr>
        <p:spPr>
          <a:xfrm>
            <a:off x="-508000" y="5588000"/>
            <a:ext cx="1524000" cy="1524000"/>
          </a:xfrm>
          <a:prstGeom prst="ellipse">
            <a:avLst/>
          </a:prstGeom>
          <a:solidFill>
            <a:srgbClr val="FF6000">
              <a:alpha val="6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5" name="AutoShape 4"/>
          <p:cNvSpPr>
            <a:spLocks noGrp="1"/>
          </p:cNvSpPr>
          <p:nvPr/>
        </p:nvSpPr>
        <p:spPr>
          <a:xfrm>
            <a:off x="711200" y="457200"/>
            <a:ext cx="10769600" cy="635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252B3A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没有统一报文，交易双方无法正确理解数据</a:t>
            </a:r>
            <a:endParaRPr sz="3200" b="1" i="0" u="none">
              <a:solidFill>
                <a:srgbClr val="252B3A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6" name="AutoShape 5"/>
          <p:cNvSpPr>
            <a:spLocks noGrp="1"/>
          </p:cNvSpPr>
          <p:nvPr/>
        </p:nvSpPr>
        <p:spPr>
          <a:xfrm>
            <a:off x="711200" y="1270000"/>
            <a:ext cx="107696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500" b="0" i="0" u="none">
                <a:solidFill>
                  <a:srgbClr val="66708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银行卡交易跨越终端、收单机构、交换网络和发卡行；每一方必须对同一组字节形成相同理解。</a:t>
            </a:r>
            <a:endParaRPr sz="1500" b="0" i="0" u="none">
              <a:solidFill>
                <a:srgbClr val="66708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7" name="AutoShape 6"/>
          <p:cNvSpPr>
            <a:spLocks noGrp="1"/>
          </p:cNvSpPr>
          <p:nvPr/>
        </p:nvSpPr>
        <p:spPr>
          <a:xfrm>
            <a:off x="711200" y="2032000"/>
            <a:ext cx="5283200" cy="1968500"/>
          </a:xfrm>
          <a:prstGeom prst="roundRect">
            <a:avLst>
              <a:gd name="adj" fmla="val 0"/>
            </a:avLst>
          </a:prstGeom>
          <a:solidFill>
            <a:srgbClr val="FF6000">
              <a:alpha val="6000"/>
            </a:srgbClr>
          </a:solidFill>
          <a:ln w="12700" cmpd="sng">
            <a:solidFill>
              <a:srgbClr val="FF6000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pic>
        <p:nvPicPr>
          <p:cNvPr id="4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2260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>
            <a:spLocks noGrp="1"/>
          </p:cNvSpPr>
          <p:nvPr/>
        </p:nvSpPr>
        <p:spPr>
          <a:xfrm>
            <a:off x="1397000" y="2235200"/>
            <a:ext cx="4318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252B3A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01 没有统一约定</a:t>
            </a:r>
            <a:endParaRPr sz="1800" b="1" i="0" u="none">
              <a:solidFill>
                <a:srgbClr val="252B3A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965200" y="2730500"/>
            <a:ext cx="47752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66708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金额放在哪里？</a:t>
            </a:r>
            <a:endParaRPr sz="1300" b="0" i="0" u="none">
              <a:solidFill>
                <a:srgbClr val="66708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66708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字段多长？</a:t>
            </a:r>
            <a:endParaRPr sz="1300" b="0" i="0" u="none">
              <a:solidFill>
                <a:srgbClr val="66708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66708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字符如何编码？</a:t>
            </a:r>
            <a:endParaRPr sz="1300" b="0" i="0" u="none">
              <a:solidFill>
                <a:srgbClr val="66708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66708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成功怎样表示？</a:t>
            </a:r>
            <a:endParaRPr sz="1300" b="0" i="0" u="none">
              <a:solidFill>
                <a:srgbClr val="66708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0" name="AutoShape 10"/>
          <p:cNvSpPr>
            <a:spLocks noGrp="1"/>
          </p:cNvSpPr>
          <p:nvPr/>
        </p:nvSpPr>
        <p:spPr>
          <a:xfrm>
            <a:off x="6197600" y="2032000"/>
            <a:ext cx="5283200" cy="1968500"/>
          </a:xfrm>
          <a:prstGeom prst="roundRect">
            <a:avLst>
              <a:gd name="adj" fmla="val 0"/>
            </a:avLst>
          </a:prstGeom>
          <a:solidFill>
            <a:srgbClr val="FF6000">
              <a:alpha val="6000"/>
            </a:srgbClr>
          </a:solidFill>
          <a:ln w="12700" cmpd="sng">
            <a:solidFill>
              <a:srgbClr val="FF6000">
                <a:alpha val="2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pic>
        <p:nvPicPr>
          <p:cNvPr id="5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600" y="2260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>
            <a:spLocks noGrp="1"/>
          </p:cNvSpPr>
          <p:nvPr/>
        </p:nvSpPr>
        <p:spPr>
          <a:xfrm>
            <a:off x="6883400" y="2235200"/>
            <a:ext cx="4318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252B3A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02 建立共同约定</a:t>
            </a:r>
            <a:endParaRPr sz="1800" b="1" i="0" u="none">
              <a:solidFill>
                <a:srgbClr val="252B3A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3" name="AutoShape 13"/>
          <p:cNvSpPr>
            <a:spLocks noGrp="1"/>
          </p:cNvSpPr>
          <p:nvPr/>
        </p:nvSpPr>
        <p:spPr>
          <a:xfrm>
            <a:off x="6451600" y="2730500"/>
            <a:ext cx="47752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sz="1300" b="0" i="0" u="none">
                <a:solidFill>
                  <a:srgbClr val="66708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约定消息类型、字段编号、长度规则和编码方式，降低跨机构对接歧义。</a:t>
            </a:r>
            <a:endParaRPr sz="1300" b="0" i="0" u="none">
              <a:solidFill>
                <a:srgbClr val="66708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4" name="AutoShape 14"/>
          <p:cNvSpPr>
            <a:spLocks noGrp="1"/>
          </p:cNvSpPr>
          <p:nvPr/>
        </p:nvSpPr>
        <p:spPr>
          <a:xfrm>
            <a:off x="711200" y="4254500"/>
            <a:ext cx="107696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5" name="AutoShape 15"/>
          <p:cNvSpPr>
            <a:spLocks noGrp="1"/>
          </p:cNvSpPr>
          <p:nvPr/>
        </p:nvSpPr>
        <p:spPr>
          <a:xfrm>
            <a:off x="965200" y="4381500"/>
            <a:ext cx="3302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252B3A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共同结构</a:t>
            </a:r>
            <a:endParaRPr sz="1400" b="1" i="0" u="none">
              <a:solidFill>
                <a:srgbClr val="252B3A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sz="1800" b="1" i="0" u="non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MTI + Bitmap + 数据域</a:t>
            </a:r>
            <a:endParaRPr sz="1800" b="1" i="0" u="none">
              <a:solidFill>
                <a:srgbClr val="FF6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57" name="Connector 16"/>
          <p:cNvCxnSpPr/>
          <p:nvPr/>
        </p:nvCxnSpPr>
        <p:spPr>
          <a:xfrm rot="5342709">
            <a:off x="3886200" y="4819703"/>
            <a:ext cx="762000" cy="12700"/>
          </a:xfrm>
          <a:prstGeom prst="straightConnector1">
            <a:avLst/>
          </a:prstGeom>
          <a:ln w="12700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>
            <a:spLocks noGrp="1"/>
          </p:cNvSpPr>
          <p:nvPr/>
        </p:nvSpPr>
        <p:spPr>
          <a:xfrm>
            <a:off x="4521200" y="4381500"/>
            <a:ext cx="3302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252B3A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共同语义</a:t>
            </a:r>
            <a:endParaRPr sz="1400" b="1" i="0" u="none">
              <a:solidFill>
                <a:srgbClr val="252B3A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sz="1800" b="1" i="0" u="non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同一字段按同一规则解释</a:t>
            </a:r>
            <a:endParaRPr sz="1800" b="1" i="0" u="none">
              <a:solidFill>
                <a:srgbClr val="FF6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59" name="Connector 18"/>
          <p:cNvCxnSpPr/>
          <p:nvPr/>
        </p:nvCxnSpPr>
        <p:spPr>
          <a:xfrm rot="5342709">
            <a:off x="7442200" y="4819703"/>
            <a:ext cx="762000" cy="12700"/>
          </a:xfrm>
          <a:prstGeom prst="straightConnector1">
            <a:avLst/>
          </a:prstGeom>
          <a:ln w="12700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>
            <a:spLocks noGrp="1"/>
          </p:cNvSpPr>
          <p:nvPr/>
        </p:nvSpPr>
        <p:spPr>
          <a:xfrm>
            <a:off x="8077200" y="4381500"/>
            <a:ext cx="3302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252B3A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共同结果</a:t>
            </a:r>
            <a:endParaRPr sz="1400" b="1" i="0" u="none">
              <a:solidFill>
                <a:srgbClr val="252B3A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sz="1800" b="1" i="0" u="non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报文可以被正确组装与解析</a:t>
            </a:r>
            <a:endParaRPr sz="1800" b="1" i="0" u="none">
              <a:solidFill>
                <a:srgbClr val="FF6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AutoShape 20"/>
          <p:cNvSpPr>
            <a:spLocks noGrp="1"/>
          </p:cNvSpPr>
          <p:nvPr/>
        </p:nvSpPr>
        <p:spPr>
          <a:xfrm>
            <a:off x="711200" y="5651500"/>
            <a:ext cx="10769600" cy="762000"/>
          </a:xfrm>
          <a:prstGeom prst="roundRect">
            <a:avLst>
              <a:gd name="adj" fmla="val 0"/>
            </a:avLst>
          </a:prstGeom>
          <a:solidFill>
            <a:srgbClr val="FF6000">
              <a:alpha val="4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21" name="AutoShape 21"/>
          <p:cNvSpPr>
            <a:spLocks noGrp="1"/>
          </p:cNvSpPr>
          <p:nvPr/>
        </p:nvSpPr>
        <p:spPr>
          <a:xfrm>
            <a:off x="965200" y="5791200"/>
            <a:ext cx="10414000" cy="635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300" b="1" i="0" u="non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ISO 8583 的核心价值：让交易参与方使用共同的消息表达框架。</a:t>
            </a:r>
            <a:endParaRPr sz="1300" b="1" i="0" u="none">
              <a:solidFill>
                <a:srgbClr val="FF6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1016000"/>
            <a:ext cx="2540000" cy="2540000"/>
          </a:xfrm>
          <a:prstGeom prst="ellipse">
            <a:avLst/>
          </a:prstGeom>
          <a:solidFill>
            <a:srgbClr val="FF6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508000" y="5715000"/>
            <a:ext cx="1524000" cy="1524000"/>
          </a:xfrm>
          <a:prstGeom prst="ellipse">
            <a:avLst/>
          </a:prstGeom>
          <a:solidFill>
            <a:srgbClr val="FF6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先区分 ISO 核心报文与渠道封装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651000"/>
            <a:ext cx="10769600" cy="1651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solidFill>
              <a:srgbClr val="D1D5DB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B556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01 渠道自定义封装层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349500"/>
            <a:ext cx="292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非ISO标准，由收单机构或通信网络定义，用于路由控制等。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191000" y="2006600"/>
            <a:ext cx="2159000" cy="889000"/>
          </a:xfrm>
          <a:prstGeom prst="roundRect">
            <a:avLst>
              <a:gd name="adj" fmla="val 0"/>
            </a:avLst>
          </a:prstGeom>
          <a:solidFill>
            <a:srgbClr val="E5E7EB">
              <a:alpha val="4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254500" y="21336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Length 长度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标识整包报文的字节总数</a:t>
            </a:r>
            <a:endParaRPr lang="en-US" sz="1200" b="0" i="0" u="none" strike="noStrike">
              <a:solidFill>
                <a:srgbClr val="6B728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477000" y="2006600"/>
            <a:ext cx="2159000" cy="889000"/>
          </a:xfrm>
          <a:prstGeom prst="roundRect">
            <a:avLst>
              <a:gd name="adj" fmla="val 0"/>
            </a:avLst>
          </a:prstGeom>
          <a:solidFill>
            <a:srgbClr val="E5E7EB">
              <a:alpha val="4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40500" y="21336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TPDU 传输头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网络层通信协议控制单元</a:t>
            </a:r>
            <a:endParaRPr lang="en-US" sz="1200" b="0" i="0" u="none" strike="noStrike">
              <a:solidFill>
                <a:srgbClr val="6B728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763000" y="2006600"/>
            <a:ext cx="2159000" cy="889000"/>
          </a:xfrm>
          <a:prstGeom prst="roundRect">
            <a:avLst>
              <a:gd name="adj" fmla="val 0"/>
            </a:avLst>
          </a:prstGeom>
          <a:solidFill>
            <a:srgbClr val="E5E7EB">
              <a:alpha val="4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826500" y="21336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Header 报文头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渠道自定义的扩展信息域</a:t>
            </a:r>
            <a:endParaRPr lang="en-US" sz="1200" b="0" i="0" u="none" strike="noStrike">
              <a:solidFill>
                <a:srgbClr val="6B728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11200" y="3619500"/>
            <a:ext cx="10769600" cy="1651000"/>
          </a:xfrm>
          <a:prstGeom prst="roundRect">
            <a:avLst>
              <a:gd name="adj" fmla="val 0"/>
            </a:avLst>
          </a:prstGeom>
          <a:solidFill>
            <a:srgbClr val="FFF7ED">
              <a:alpha val="50000"/>
            </a:srgbClr>
          </a:solidFill>
          <a:ln w="25400" cap="flat" cmpd="sng">
            <a:solidFill>
              <a:srgbClr val="FF60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3873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02 ISO 8583 标准核心层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318000"/>
            <a:ext cx="292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金融交易报文的国际通用标准格式，定义了交易类型、数据结构和编码规则。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191000" y="3975100"/>
            <a:ext cx="2159000" cy="889000"/>
          </a:xfrm>
          <a:prstGeom prst="roundRect">
            <a:avLst>
              <a:gd name="adj" fmla="val 0"/>
            </a:avLst>
          </a:prstGeom>
          <a:solidFill>
            <a:srgbClr val="FFEDD5">
              <a:alpha val="60000"/>
            </a:srgbClr>
          </a:solidFill>
          <a:ln w="12700" cap="flat" cmpd="sng">
            <a:solidFill>
              <a:srgbClr val="FB92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254500" y="41021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2410C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MTI 消息类型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A341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标识交易性质（消费/撤销等）</a:t>
            </a:r>
            <a:endParaRPr lang="en-US" sz="1200" b="0" i="0" u="none" strike="noStrike">
              <a:solidFill>
                <a:srgbClr val="9A3412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477000" y="3975100"/>
            <a:ext cx="2159000" cy="889000"/>
          </a:xfrm>
          <a:prstGeom prst="roundRect">
            <a:avLst>
              <a:gd name="adj" fmla="val 0"/>
            </a:avLst>
          </a:prstGeom>
          <a:solidFill>
            <a:srgbClr val="FFEDD5">
              <a:alpha val="60000"/>
            </a:srgbClr>
          </a:solidFill>
          <a:ln w="12700" cap="flat" cmpd="sng">
            <a:solidFill>
              <a:srgbClr val="FB92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540500" y="41021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2410C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Bitmap 位图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A341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掩码表示哪些数据域有效</a:t>
            </a:r>
            <a:endParaRPr lang="en-US" sz="1200" b="0" i="0" u="none" strike="noStrike">
              <a:solidFill>
                <a:srgbClr val="9A3412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763000" y="3975100"/>
            <a:ext cx="2159000" cy="889000"/>
          </a:xfrm>
          <a:prstGeom prst="roundRect">
            <a:avLst>
              <a:gd name="adj" fmla="val 0"/>
            </a:avLst>
          </a:prstGeom>
          <a:solidFill>
            <a:srgbClr val="FFEDD5">
              <a:alpha val="60000"/>
            </a:srgbClr>
          </a:solidFill>
          <a:ln w="12700" cap="flat" cmpd="sng">
            <a:solidFill>
              <a:srgbClr val="FB92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826500" y="41021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2410C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Data Elements 数据域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A341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承载交易的具体业务信息</a:t>
            </a:r>
            <a:endParaRPr lang="en-US" sz="1200" b="0" i="0" u="none" strike="noStrike">
              <a:solidFill>
                <a:srgbClr val="9A3412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965200" y="5575300"/>
            <a:ext cx="10515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MTI 的四个数字共同描述消息性质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11200" y="1460500"/>
            <a:ext cx="10769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以典型的 ISO 8583 交易报文 MTI「0200」为例，四位数字从左至右依次定义了版本、类别、功能与发起方，构成报文的核心身份标识：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2286000"/>
            <a:ext cx="2603500" cy="2349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11200" y="2286000"/>
            <a:ext cx="2603500" cy="508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63600" y="2857500"/>
            <a:ext cx="22987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4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</a:t>
            </a:r>
            <a:endParaRPr lang="en-US" sz="1100"/>
          </a:p>
          <a:p>
            <a:pPr marL="0"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800" b="0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版本号</a:t>
            </a:r>
            <a:endParaRPr lang="en-US" sz="1800" b="0" i="0" u="none" strike="noStrike">
              <a:solidFill>
                <a:srgbClr val="25252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517900" y="2286000"/>
            <a:ext cx="2603500" cy="2349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517900" y="2286000"/>
            <a:ext cx="2603500" cy="508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670300" y="2857500"/>
            <a:ext cx="22987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4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2</a:t>
            </a:r>
            <a:endParaRPr lang="en-US" sz="1100"/>
          </a:p>
          <a:p>
            <a:pPr marL="0"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600" b="0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消息类别 (金融交易)</a:t>
            </a:r>
            <a:endParaRPr lang="en-US" sz="1600" b="0" i="0" u="none" strike="noStrike">
              <a:solidFill>
                <a:srgbClr val="25252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324600" y="2286000"/>
            <a:ext cx="2603500" cy="2349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24600" y="2286000"/>
            <a:ext cx="2603500" cy="508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2857500"/>
            <a:ext cx="22987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4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</a:t>
            </a:r>
            <a:endParaRPr lang="en-US" sz="1100"/>
          </a:p>
          <a:p>
            <a:pPr marL="0"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600" b="0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消息功能 (请求)</a:t>
            </a:r>
            <a:endParaRPr lang="en-US" sz="1600" b="0" i="0" u="none" strike="noStrike">
              <a:solidFill>
                <a:srgbClr val="25252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9131300" y="2286000"/>
            <a:ext cx="2603500" cy="2349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131300" y="2286000"/>
            <a:ext cx="2603500" cy="508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283700" y="2857500"/>
            <a:ext cx="22987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4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</a:t>
            </a:r>
            <a:endParaRPr lang="en-US" sz="1100"/>
          </a:p>
          <a:p>
            <a:pPr marL="0"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600" b="0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发起方 (收单方)</a:t>
            </a:r>
            <a:endParaRPr lang="en-US" sz="1600" b="0" i="0" u="none" strike="noStrike">
              <a:solidFill>
                <a:srgbClr val="25252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11200" y="4953000"/>
            <a:ext cx="10769600" cy="889000"/>
          </a:xfrm>
          <a:prstGeom prst="roundRect">
            <a:avLst>
              <a:gd name="adj" fmla="val 0"/>
            </a:avLst>
          </a:prstGeom>
          <a:solidFill>
            <a:srgbClr val="FF6000">
              <a:alpha val="7000"/>
            </a:srgbClr>
          </a:solidFill>
          <a:ln w="12700" cap="flat" cmpd="sng">
            <a:solidFill>
              <a:srgbClr val="FF6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14400" y="5105400"/>
            <a:ext cx="103632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E651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⚠️ 关键提示：</a:t>
            </a:r>
            <a:r>
              <a:rPr lang="en-US" sz="1400" b="0" i="0" u="none" strike="noStrike">
                <a:solidFill>
                  <a:srgbClr val="50505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MTI 是报文解析的“第一把钥匙”，若配置错误会直接导致报文被网关拒接或解析失败。不同渠道的细分定义可能略有差异，实际对接请务必以渠道方接口文档为准。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MTI 通常以请求和响应成对出现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711200" y="1524000"/>
          <a:ext cx="10769600" cy="3276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692400"/>
                <a:gridCol w="2692400"/>
                <a:gridCol w="5384800"/>
              </a:tblGrid>
              <a:tr h="609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请求 MTI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600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响应 MTI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600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业务场景描述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6000">
                        <a:alpha val="100000"/>
                      </a:srgbClr>
                    </a:solidFill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0100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0110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55555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联机授权请求 / 授权应答（如预授权、余额查询）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0200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0210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55555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金融交易请求 / 交易应答（如消费、借记卡取现）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>
                        <a:alpha val="50000"/>
                      </a:srgbClr>
                    </a:solidFill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0220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0230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55555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金融通知请求 / 通知应答（后台主动通知交易结果）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0400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0410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55555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冲正请求 / 冲正应答（处理超时或异常交易的状态矫正）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>
                        <a:alpha val="50000"/>
                      </a:srgbClr>
                    </a:solidFill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0800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0810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55555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网络管理请求 / 管理应答（终端签到、密钥下载、参数更新）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AutoShape 4"/>
          <p:cNvSpPr/>
          <p:nvPr/>
        </p:nvSpPr>
        <p:spPr>
          <a:xfrm>
            <a:off x="711200" y="50800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0400 用于超时或状态不确定，不等同于用户撤销。0800 的具体用途属于网络实现。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1016000"/>
            <a:ext cx="2540000" cy="2540000"/>
          </a:xfrm>
          <a:prstGeom prst="ellipse">
            <a:avLst/>
          </a:prstGeom>
          <a:solidFill>
            <a:srgbClr val="FF60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508000" y="5715000"/>
            <a:ext cx="1524000" cy="1524000"/>
          </a:xfrm>
          <a:prstGeom prst="ellipse">
            <a:avLst/>
          </a:prstGeom>
          <a:solidFill>
            <a:srgbClr val="FF60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Bitmap 决定后面有哪些数据域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651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6000">
              <a:alpha val="5000"/>
            </a:srgbClr>
          </a:solidFill>
          <a:ln w="12700" cap="flat" cmpd="sng">
            <a:solidFill>
              <a:srgbClr val="FF6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112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1700" y="1930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82700" y="19050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01 主位图 (64位)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01700" y="2540000"/>
            <a:ext cx="304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bit 1: 第二位图标志；bit 2~64: 对应 DE2~DE64。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651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6000">
              <a:alpha val="5000"/>
            </a:srgbClr>
          </a:solidFill>
          <a:ln w="12700" cap="flat" cmpd="sng">
            <a:solidFill>
              <a:srgbClr val="FF6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9304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53000" y="19050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02 第二位图 (64位)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2540000"/>
            <a:ext cx="304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对应 DE65~DE128。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51800" y="1651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6000">
              <a:alpha val="5000"/>
            </a:srgbClr>
          </a:solidFill>
          <a:ln w="12700" cap="flat" cmpd="sng">
            <a:solidFill>
              <a:srgbClr val="FF6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0518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2300" y="1930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23300" y="19050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03 核心判定逻辑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42300" y="2540000"/>
            <a:ext cx="304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bit 1 = 0：</a:t>
            </a:r>
            <a:br>
              <a:rPr lang="en-US" sz="14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报文仅包含主位图，后续仅解析 DE1~DE64 范围内的字段。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bit 1 = 1：</a:t>
            </a:r>
            <a:br>
              <a:rPr lang="en-US" sz="14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主位图后紧跟第二位图，解析范围扩大到 DE1~DE128。</a:t>
            </a:r>
            <a:endParaRPr lang="en-US" sz="1400" b="0" i="0" u="none" strike="noStrike">
              <a:solidFill>
                <a:srgbClr val="525252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11200" y="5207000"/>
            <a:ext cx="10769600" cy="762000"/>
          </a:xfrm>
          <a:prstGeom prst="roundRect">
            <a:avLst>
              <a:gd name="adj" fmla="val 0"/>
            </a:avLst>
          </a:prstGeom>
          <a:solidFill>
            <a:srgbClr val="252525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38200" y="5359400"/>
            <a:ext cx="10515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666666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核心价值：</a:t>
            </a:r>
            <a:r>
              <a:rPr lang="en-US" sz="1400" b="0" i="0" u="none" strike="noStrike">
                <a:solidFill>
                  <a:srgbClr val="666666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Bitmap 就像 ISO 8583 报文的“数据目录”或“索引表”。接收方只有先解析位图，才能知道接下来需要读取哪些字段、跳过哪些字段，是实现报文正确解码的第一步。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从字段集合可以计算出 Bitmap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11200" y="1524000"/>
            <a:ext cx="10769600" cy="1651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cap="flat" cmpd="sng">
            <a:solidFill>
              <a:srgbClr val="E0C9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65200" y="1714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01 输入：本次交易包含的关键字段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需携带的核心数据域列表：</a:t>
            </a:r>
            <a:br>
              <a:rPr lang="en-US" sz="1600" b="0" i="0" u="none" strike="noStrike">
                <a:solidFill>
                  <a:srgbClr val="1F232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DE3、DE4、DE11、DE22、DE41、DE42、DE49、DE64</a:t>
            </a:r>
            <a:endParaRPr lang="en-US" sz="1400" b="0" i="0" u="none" strike="noStrike">
              <a:solidFill>
                <a:srgbClr val="525252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5365623">
            <a:off x="5461000" y="234318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350000" y="1714500"/>
            <a:ext cx="48768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02 输出：Bitmap 十六进制值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22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3020040000C08001</a:t>
            </a:r>
            <a:endParaRPr lang="en-US" sz="2200" b="1" i="0" u="none" strike="noStrike">
              <a:solidFill>
                <a:srgbClr val="FF6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888888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计算逻辑：将存在的字段对应 Bit 位设为 1，按 8 字节分组转换为十六进制</a:t>
            </a:r>
            <a:endParaRPr lang="en-US" sz="1300" b="0" i="0" u="none" strike="noStrike">
              <a:solidFill>
                <a:srgbClr val="888888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11200" y="3556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6000">
              <a:alpha val="6000"/>
            </a:srgbClr>
          </a:solidFill>
          <a:ln w="12700" cap="flat" cmpd="sng">
            <a:solidFill>
              <a:srgbClr val="FF6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65200" y="3746500"/>
            <a:ext cx="4762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▍ 首字节解析 (30 HEX)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二进制展开：00110000</a:t>
            </a:r>
            <a:endParaRPr lang="en-US" sz="1400" b="1" i="0" u="none" strike="noStrike">
              <a:solidFill>
                <a:srgbClr val="25252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解读：bit 3、4 为 1 →</a:t>
            </a:r>
            <a:r>
              <a:rPr lang="en-US" sz="1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DE3、DE4 存在</a:t>
            </a:r>
            <a:endParaRPr lang="en-US" sz="1400" b="1" i="0" u="none" strike="noStrike">
              <a:solidFill>
                <a:srgbClr val="FF6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10300" y="3556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6000">
              <a:alpha val="6000"/>
            </a:srgbClr>
          </a:solidFill>
          <a:ln w="12700" cap="flat" cmpd="sng">
            <a:solidFill>
              <a:srgbClr val="FF6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64300" y="3746500"/>
            <a:ext cx="4762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▍ 末字节解析 (01 HEX)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二进制展开：00000001</a:t>
            </a:r>
            <a:endParaRPr lang="en-US" sz="1400" b="1" i="0" u="none" strike="noStrike">
              <a:solidFill>
                <a:srgbClr val="25252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解读：bit 64 为 1 →</a:t>
            </a:r>
            <a:r>
              <a:rPr lang="en-US" sz="1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DE64 存在</a:t>
            </a:r>
            <a:endParaRPr lang="en-US" sz="1400" b="1" i="0" u="none" strike="noStrike">
              <a:solidFill>
                <a:srgbClr val="FF6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先认识交易处理中最常见的数据域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11200" y="1524000"/>
            <a:ext cx="3454400" cy="1524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cap="flat" cmpd="sng">
            <a:solidFill>
              <a:srgbClr val="E0C9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1524000"/>
            <a:ext cx="3454400" cy="381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38200" y="1676400"/>
            <a:ext cx="3200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DE2 主账号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59595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卡号/账户标识</a:t>
            </a:r>
            <a:endParaRPr lang="en-US" sz="1400" b="0" i="0" u="none" strike="noStrike">
              <a:solidFill>
                <a:srgbClr val="595959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368800" y="1524000"/>
            <a:ext cx="3454400" cy="1524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cap="flat" cmpd="sng">
            <a:solidFill>
              <a:srgbClr val="E0C9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368800" y="1524000"/>
            <a:ext cx="3454400" cy="381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495800" y="1676400"/>
            <a:ext cx="3200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DE3 处理码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59595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交易处理类型</a:t>
            </a:r>
            <a:endParaRPr lang="en-US" sz="1400" b="0" i="0" u="none" strike="noStrike">
              <a:solidFill>
                <a:srgbClr val="595959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026400" y="1524000"/>
            <a:ext cx="3454400" cy="1524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cap="flat" cmpd="sng">
            <a:solidFill>
              <a:srgbClr val="E0C9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026400" y="1524000"/>
            <a:ext cx="3454400" cy="381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153400" y="1676400"/>
            <a:ext cx="3200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DE4 交易金额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59595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交易金额（最小单位）</a:t>
            </a:r>
            <a:endParaRPr lang="en-US" sz="1400" b="0" i="0" u="none" strike="noStrike">
              <a:solidFill>
                <a:srgbClr val="595959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11200" y="3302000"/>
            <a:ext cx="3454400" cy="1524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cap="flat" cmpd="sng">
            <a:solidFill>
              <a:srgbClr val="E0C9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11200" y="3302000"/>
            <a:ext cx="3454400" cy="381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38200" y="3454400"/>
            <a:ext cx="3200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DE11 系统跟踪号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59595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交易跟踪与关联</a:t>
            </a:r>
            <a:endParaRPr lang="en-US" sz="1400" b="0" i="0" u="none" strike="noStrike">
              <a:solidFill>
                <a:srgbClr val="595959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368800" y="3302000"/>
            <a:ext cx="3454400" cy="1524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cap="flat" cmpd="sng">
            <a:solidFill>
              <a:srgbClr val="E0C9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368800" y="3302000"/>
            <a:ext cx="3454400" cy="381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495800" y="3454400"/>
            <a:ext cx="3200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DE12 本地时间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59595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本地时间 (hhmmss)</a:t>
            </a:r>
            <a:endParaRPr lang="en-US" sz="1400" b="0" i="0" u="none" strike="noStrike">
              <a:solidFill>
                <a:srgbClr val="595959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026400" y="3302000"/>
            <a:ext cx="3454400" cy="1524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cap="flat" cmpd="sng">
            <a:solidFill>
              <a:srgbClr val="E0C9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026400" y="3302000"/>
            <a:ext cx="3454400" cy="381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153400" y="3454400"/>
            <a:ext cx="3200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DE13 本地日期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59595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本地日期 (MMDD)</a:t>
            </a:r>
            <a:endParaRPr lang="en-US" sz="1400" b="0" i="0" u="none" strike="noStrike">
              <a:solidFill>
                <a:srgbClr val="595959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11200" y="5080000"/>
            <a:ext cx="10769600" cy="1016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cap="flat" cmpd="sng">
            <a:solidFill>
              <a:srgbClr val="E0C9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11200" y="5080000"/>
            <a:ext cx="10769600" cy="381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38200" y="5232400"/>
            <a:ext cx="10515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DE22 服务点输入方式码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59595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卡数据输入方式</a:t>
            </a:r>
            <a:endParaRPr lang="en-US" sz="1400" b="0" i="0" u="none" strike="noStrike">
              <a:solidFill>
                <a:srgbClr val="595959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终端、响应和安全也由数据域承载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11200" y="1397000"/>
            <a:ext cx="1076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在支付报文交互体系中，特定数据域（DE）承担着终端身份识别、交易结果反馈及传输安全校验的核心职能，这些标准化字段是保障交易链路完整、可追溯与防篡改的基础。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11200" y="2286000"/>
          <a:ext cx="107696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2794000"/>
                <a:gridCol w="6197600"/>
              </a:tblGrid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数据域标识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600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名称定义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600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核心作用与业务说明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6000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DE37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检索参考号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55555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交易检索与关联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DE39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响应码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55555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主机处理结果（00通常成功）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DE41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受卡机终端标识码 (TID)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55555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终端标识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DE42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受卡方标识码 (MID)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55555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商户/受卡方标识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DE49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交易货币代码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55555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交易货币代码（如156=人民币）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DE52/DE55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PIN 密文 / IC 卡数据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55555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PIN/IC卡数据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DE64/DE128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3333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报文鉴别码 (MAC)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55555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报文鉴别码 (MAC)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9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1016000"/>
            <a:ext cx="2540000" cy="2540000"/>
          </a:xfrm>
          <a:prstGeom prst="ellipse">
            <a:avLst/>
          </a:prstGeom>
          <a:solidFill>
            <a:srgbClr val="FF6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508000" y="5715000"/>
            <a:ext cx="1524000" cy="1524000"/>
          </a:xfrm>
          <a:prstGeom prst="ellipse">
            <a:avLst/>
          </a:prstGeom>
          <a:solidFill>
            <a:srgbClr val="FF6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数据域可以是定长，也可以是变长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52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11200" y="15748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00" y="18796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73200" y="18796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01 FIX 固定长度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965214" y="24828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65200" y="2667000"/>
            <a:ext cx="2921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长度固定，按规范读取。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152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15748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18796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43500" y="18796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02 LLVAR 两位长度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35514" y="24828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5500" y="2667000"/>
            <a:ext cx="2921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前带两位十进制长度，最大99。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51800" y="152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051800" y="15748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18796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813800" y="18796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03 LLLVAR 三位长度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946">
            <a:off x="8305814" y="24828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305800" y="2667000"/>
            <a:ext cx="2921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前带三位十进制长度，最大999。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11200" y="4572000"/>
            <a:ext cx="10769600" cy="1079500"/>
          </a:xfrm>
          <a:prstGeom prst="roundRect">
            <a:avLst>
              <a:gd name="adj" fmla="val 0"/>
            </a:avLst>
          </a:prstGeom>
          <a:solidFill>
            <a:srgbClr val="FF60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11200" y="4572000"/>
            <a:ext cx="50800" cy="10795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200" y="47752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397000" y="4724400"/>
            <a:ext cx="990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关键规范提示：</a:t>
            </a:r>
            <a:r>
              <a:rPr lang="en-US" sz="14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长度单位（数字/字符/字节）无统一标准，需严格遵循接口文档；数据不足位时的补齐方式（补0或补空格）、对齐方向（左对齐或右对齐）均由具体字段规范定义，是开发联调中极易出错的关键点。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1016000"/>
            <a:ext cx="2540000" cy="2540000"/>
          </a:xfrm>
          <a:prstGeom prst="ellipse">
            <a:avLst/>
          </a:prstGeom>
          <a:solidFill>
            <a:srgbClr val="FF6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508000" y="5588000"/>
            <a:ext cx="1524000" cy="1524000"/>
          </a:xfrm>
          <a:prstGeom prst="ellipse">
            <a:avLst/>
          </a:prstGeom>
          <a:solidFill>
            <a:srgbClr val="FF6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“两位长度”不代表一定占两个字节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460500"/>
            <a:ext cx="1076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在解析通信协议的变长域时，“长度值”的编码方式直接决定了其实际占用的字节数。这是开发与联调中极易产生误解的关键点，需重点关注长度头与数据体的双重编码规则。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" y="2349500"/>
            <a:ext cx="5283200" cy="1714500"/>
          </a:xfrm>
          <a:prstGeom prst="roundRect">
            <a:avLst>
              <a:gd name="adj" fmla="val 0"/>
            </a:avLst>
          </a:prstGeom>
          <a:solidFill>
            <a:srgbClr val="FF6000">
              <a:alpha val="6000"/>
            </a:srgbClr>
          </a:solidFill>
          <a:ln w="12700" cap="flat" cmpd="sng">
            <a:solidFill>
              <a:srgbClr val="FF6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14400" y="2540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01. ASCII 字符型长度头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14400" y="2984500"/>
            <a:ext cx="4876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字符 "16" → HEX 31 36 → 占</a:t>
            </a:r>
            <a:r>
              <a:rPr lang="en-US" sz="1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2 字节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97600" y="2349500"/>
            <a:ext cx="5283200" cy="1714500"/>
          </a:xfrm>
          <a:prstGeom prst="roundRect">
            <a:avLst>
              <a:gd name="adj" fmla="val 0"/>
            </a:avLst>
          </a:prstGeom>
          <a:solidFill>
            <a:srgbClr val="FF6000">
              <a:alpha val="6000"/>
            </a:srgbClr>
          </a:solidFill>
          <a:ln w="12700" cap="flat" cmpd="sng">
            <a:solidFill>
              <a:srgbClr val="FF6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00800" y="2540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02. BCD 数值型长度头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00800" y="2984500"/>
            <a:ext cx="4876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十进制 16 → HEX 16 → 占</a:t>
            </a:r>
            <a:r>
              <a:rPr lang="en-US" sz="1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1 字节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11200" y="4381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数据编码不同，总字节数也不同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1200" y="4889500"/>
            <a:ext cx="5283200" cy="1143000"/>
          </a:xfrm>
          <a:prstGeom prst="roundRect">
            <a:avLst>
              <a:gd name="adj" fmla="val 0"/>
            </a:avLst>
          </a:prstGeom>
          <a:solidFill>
            <a:srgbClr val="F2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11200" y="4889500"/>
            <a:ext cx="50800" cy="11430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14400" y="5016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ASCII 明文：</a:t>
            </a:r>
            <a:r>
              <a:rPr lang="en-US" sz="14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每位数字独立存储，16位卡号占</a:t>
            </a:r>
            <a:r>
              <a:rPr lang="en-US" sz="1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16 字节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197600" y="4889500"/>
            <a:ext cx="5283200" cy="1143000"/>
          </a:xfrm>
          <a:prstGeom prst="roundRect">
            <a:avLst>
              <a:gd name="adj" fmla="val 0"/>
            </a:avLst>
          </a:prstGeom>
          <a:solidFill>
            <a:srgbClr val="F2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197600" y="4889500"/>
            <a:ext cx="50800" cy="11430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00800" y="5016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Packed BCD 压缩：</a:t>
            </a:r>
            <a:r>
              <a:rPr lang="en-US" sz="14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每两位数字打包存储，16位卡号占</a:t>
            </a:r>
            <a:r>
              <a:rPr lang="en-US" sz="1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8 字节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762000"/>
            <a:ext cx="2540000" cy="2540000"/>
          </a:xfrm>
          <a:prstGeom prst="ellipse">
            <a:avLst/>
          </a:prstGeom>
          <a:solidFill>
            <a:srgbClr val="FF60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508000" y="5588000"/>
            <a:ext cx="1524000" cy="1524000"/>
          </a:xfrm>
          <a:prstGeom prst="ellipse">
            <a:avLst/>
          </a:prstGeom>
          <a:solidFill>
            <a:srgbClr val="FF60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ASCII 把每个字符编码成一个字节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397000"/>
            <a:ext cx="10769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ASCII（美国信息交换标准代码）是计算机最基础的字符编码标准，专为英语字符设计。其核心规则是</a:t>
            </a:r>
            <a:r>
              <a:rPr lang="en-US" sz="1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单字符单字节</a:t>
            </a:r>
            <a:r>
              <a:rPr lang="en-US" sz="1400" b="0" i="0" u="none" strike="noStrike">
                <a:solidFill>
                  <a:srgbClr val="666666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：每个可见字符或控制符都被唯一映射为 1 个字节（8 位）的二进制数值，是文本数据在计算机中存储与传输的底层基础。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" y="24130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▍ 示例拆解：字符串 "0200" 的编码映射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11200" y="2984500"/>
            <a:ext cx="2489200" cy="1651000"/>
          </a:xfrm>
          <a:prstGeom prst="roundRect">
            <a:avLst>
              <a:gd name="adj" fmla="val 0"/>
            </a:avLst>
          </a:prstGeom>
          <a:solidFill>
            <a:srgbClr val="FF6000">
              <a:alpha val="7000"/>
            </a:srgbClr>
          </a:solidFill>
          <a:ln w="12700" cap="flat" cmpd="sng">
            <a:solidFill>
              <a:srgbClr val="FF6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12800" y="31115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字符 '0'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十进制值：48</a:t>
            </a:r>
            <a:endParaRPr lang="en-US" sz="1300" b="0" i="0" u="none" strike="noStrike">
              <a:solidFill>
                <a:srgbClr val="55555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十六进制：0x30</a:t>
            </a:r>
            <a:endParaRPr lang="en-US" sz="1300" b="0" i="0" u="none" strike="noStrike">
              <a:solidFill>
                <a:srgbClr val="55555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99999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二进制：0011 0000</a:t>
            </a:r>
            <a:endParaRPr lang="en-US" sz="1200" b="0" i="0" u="none" strike="noStrike">
              <a:solidFill>
                <a:srgbClr val="999999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454400" y="2984500"/>
            <a:ext cx="2489200" cy="1651000"/>
          </a:xfrm>
          <a:prstGeom prst="roundRect">
            <a:avLst>
              <a:gd name="adj" fmla="val 0"/>
            </a:avLst>
          </a:prstGeom>
          <a:solidFill>
            <a:srgbClr val="FF6000">
              <a:alpha val="7000"/>
            </a:srgbClr>
          </a:solidFill>
          <a:ln w="12700" cap="flat" cmpd="sng">
            <a:solidFill>
              <a:srgbClr val="FF6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556000" y="31115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字符 '2'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十进制值：50</a:t>
            </a:r>
            <a:endParaRPr lang="en-US" sz="1300" b="0" i="0" u="none" strike="noStrike">
              <a:solidFill>
                <a:srgbClr val="55555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十六进制：0x32</a:t>
            </a:r>
            <a:endParaRPr lang="en-US" sz="1300" b="0" i="0" u="none" strike="noStrike">
              <a:solidFill>
                <a:srgbClr val="55555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99999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二进制：0011 0010</a:t>
            </a:r>
            <a:endParaRPr lang="en-US" sz="1200" b="0" i="0" u="none" strike="noStrike">
              <a:solidFill>
                <a:srgbClr val="999999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197600" y="2984500"/>
            <a:ext cx="2489200" cy="1651000"/>
          </a:xfrm>
          <a:prstGeom prst="roundRect">
            <a:avLst>
              <a:gd name="adj" fmla="val 0"/>
            </a:avLst>
          </a:prstGeom>
          <a:solidFill>
            <a:srgbClr val="FF6000">
              <a:alpha val="7000"/>
            </a:srgbClr>
          </a:solidFill>
          <a:ln w="12700" cap="flat" cmpd="sng">
            <a:solidFill>
              <a:srgbClr val="FF6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99200" y="31115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字符 '0'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十进制值：48</a:t>
            </a:r>
            <a:endParaRPr lang="en-US" sz="1300" b="0" i="0" u="none" strike="noStrike">
              <a:solidFill>
                <a:srgbClr val="55555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十六进制：0x30</a:t>
            </a:r>
            <a:endParaRPr lang="en-US" sz="1300" b="0" i="0" u="none" strike="noStrike">
              <a:solidFill>
                <a:srgbClr val="55555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99999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二进制：0011 0000</a:t>
            </a:r>
            <a:endParaRPr lang="en-US" sz="1200" b="0" i="0" u="none" strike="noStrike">
              <a:solidFill>
                <a:srgbClr val="999999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940800" y="2984500"/>
            <a:ext cx="2489200" cy="1651000"/>
          </a:xfrm>
          <a:prstGeom prst="roundRect">
            <a:avLst>
              <a:gd name="adj" fmla="val 0"/>
            </a:avLst>
          </a:prstGeom>
          <a:solidFill>
            <a:srgbClr val="FF6000">
              <a:alpha val="7000"/>
            </a:srgbClr>
          </a:solidFill>
          <a:ln w="12700" cap="flat" cmpd="sng">
            <a:solidFill>
              <a:srgbClr val="FF6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042400" y="31115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字符 '0'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十进制值：48</a:t>
            </a:r>
            <a:endParaRPr lang="en-US" sz="1300" b="0" i="0" u="none" strike="noStrike">
              <a:solidFill>
                <a:srgbClr val="55555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十六进制：0x30</a:t>
            </a:r>
            <a:endParaRPr lang="en-US" sz="1300" b="0" i="0" u="none" strike="noStrike">
              <a:solidFill>
                <a:srgbClr val="555555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99999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二进制：0011 0000</a:t>
            </a:r>
            <a:endParaRPr lang="en-US" sz="1200" b="0" i="0" u="none" strike="noStrike">
              <a:solidFill>
                <a:srgbClr val="999999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11200" y="4851400"/>
            <a:ext cx="10769600" cy="5588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89000" y="49657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ASCII 是字符编码；HEX 是字节的书写方式。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11200" y="5562600"/>
            <a:ext cx="10769600" cy="5842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11200" y="5562600"/>
            <a:ext cx="50800" cy="5842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14400" y="5638800"/>
            <a:ext cx="1047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例如字符串“0200”的 ASCII 编码对应十六进制字节流为“30 32 30 30”，这是接口调试与日志分析中常见的表现形式。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762000"/>
            <a:ext cx="2540000" cy="2540000"/>
          </a:xfrm>
          <a:prstGeom prst="ellipse">
            <a:avLst/>
          </a:prstGeom>
          <a:solidFill>
            <a:srgbClr val="FF60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508000" y="5588000"/>
            <a:ext cx="1524000" cy="1524000"/>
          </a:xfrm>
          <a:prstGeom prst="ellipse">
            <a:avLst/>
          </a:prstGeom>
          <a:solidFill>
            <a:srgbClr val="FF60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8421 BCD 用 4 bit 表示一个十进制数字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3970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01 / 基础编码映射表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" y="1905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01700" y="20955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 →</a:t>
            </a:r>
            <a:r>
              <a:rPr lang="en-US" sz="15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0000 (0+0+0+0)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29000" y="20955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1 →</a:t>
            </a:r>
            <a:r>
              <a:rPr lang="en-US" sz="15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0001 (0+0+0+1)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01700" y="26035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2 →</a:t>
            </a:r>
            <a:r>
              <a:rPr lang="en-US" sz="15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0010 (0+0+2+0)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29000" y="26035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3 →</a:t>
            </a:r>
            <a:r>
              <a:rPr lang="en-US" sz="15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0011 (0+0+2+1)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01700" y="3175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4 →</a:t>
            </a:r>
            <a:r>
              <a:rPr lang="en-US" sz="15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0100 (0+4+0+0) ｜ 每一位十进制数独立编码，互不进位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905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13500" y="20955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5 →</a:t>
            </a:r>
            <a:r>
              <a:rPr lang="en-US" sz="15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0101 (0+4+0+1)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953500" y="20955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6 →</a:t>
            </a:r>
            <a:r>
              <a:rPr lang="en-US" sz="15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0110 (0+4+2+0)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13500" y="26035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7 →</a:t>
            </a:r>
            <a:r>
              <a:rPr lang="en-US" sz="15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0111 (0+4+2+1)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953500" y="26035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8 →</a:t>
            </a:r>
            <a:r>
              <a:rPr lang="en-US" sz="15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1000 (8+0+0+0)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13500" y="3175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9 →</a:t>
            </a:r>
            <a:r>
              <a:rPr lang="en-US" sz="15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1001 (8+0+0+1) ｜ 逢十进一，不使用 1010-1111 编码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1200" y="4127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02 / 权值计算逻辑解析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11200" y="4635500"/>
            <a:ext cx="10769600" cy="1460500"/>
          </a:xfrm>
          <a:prstGeom prst="roundRect">
            <a:avLst>
              <a:gd name="adj" fmla="val 0"/>
            </a:avLst>
          </a:prstGeom>
          <a:solidFill>
            <a:srgbClr val="FF6000">
              <a:alpha val="6000"/>
            </a:srgbClr>
          </a:solidFill>
          <a:ln w="12700" cap="flat" cmpd="sng">
            <a:solidFill>
              <a:srgbClr val="FF6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92200" y="4889500"/>
            <a:ext cx="431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数字 9 的编码是 1001，即 8 + 1 = 9。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361804">
            <a:off x="5080000" y="53276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00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5842000" y="47625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权值位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858000" y="4762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8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83500" y="4762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4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509000" y="4762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2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334500" y="4762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1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842000" y="51435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编码位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921500" y="5181600"/>
            <a:ext cx="635000" cy="304800"/>
          </a:xfrm>
          <a:prstGeom prst="roundRect">
            <a:avLst>
              <a:gd name="adj" fmla="val 0"/>
            </a:avLst>
          </a:prstGeom>
          <a:solidFill>
            <a:srgbClr val="FF60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1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747000" y="5181600"/>
            <a:ext cx="635000" cy="304800"/>
          </a:xfrm>
          <a:prstGeom prst="roundRect">
            <a:avLst>
              <a:gd name="adj" fmla="val 0"/>
            </a:avLst>
          </a:prstGeom>
          <a:solidFill>
            <a:srgbClr val="E5E7EB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CA3AF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572500" y="5181600"/>
            <a:ext cx="635000" cy="304800"/>
          </a:xfrm>
          <a:prstGeom prst="roundRect">
            <a:avLst>
              <a:gd name="adj" fmla="val 0"/>
            </a:avLst>
          </a:prstGeom>
          <a:solidFill>
            <a:srgbClr val="E5E7EB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CA3AF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398000" y="5181600"/>
            <a:ext cx="635000" cy="304800"/>
          </a:xfrm>
          <a:prstGeom prst="roundRect">
            <a:avLst>
              <a:gd name="adj" fmla="val 0"/>
            </a:avLst>
          </a:prstGeom>
          <a:solidFill>
            <a:srgbClr val="FF60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1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5842000" y="5613400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计算结果：8(1) + 1(1) =</a:t>
            </a:r>
            <a:r>
              <a:rPr lang="en-US" sz="16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9</a:t>
            </a:r>
            <a:r>
              <a:rPr lang="en-US" sz="1400" b="0" i="0" u="none" strike="noStrike">
                <a:solidFill>
                  <a:srgbClr val="6B728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（对应十进制数字）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Packed BCD 可以用一个字节保存两个数字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11200" y="1651000"/>
            <a:ext cx="5232400" cy="2794000"/>
          </a:xfrm>
          <a:prstGeom prst="roundRect">
            <a:avLst>
              <a:gd name="adj" fmla="val 0"/>
            </a:avLst>
          </a:prstGeom>
          <a:solidFill>
            <a:srgbClr val="FF6000">
              <a:alpha val="6000"/>
            </a:srgbClr>
          </a:solidFill>
          <a:ln w="12700" cap="flat" cmpd="sng">
            <a:solidFill>
              <a:srgbClr val="FF6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14400" y="2159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01 示例：数字串 "0200"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914400" y="27940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数字串 "0200" → 00000010 00000000 → HEX 02 00 → 占 2 字节。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248400" y="1651000"/>
            <a:ext cx="5232400" cy="2794000"/>
          </a:xfrm>
          <a:prstGeom prst="roundRect">
            <a:avLst>
              <a:gd name="adj" fmla="val 0"/>
            </a:avLst>
          </a:prstGeom>
          <a:solidFill>
            <a:srgbClr val="FF6000">
              <a:alpha val="6000"/>
            </a:srgbClr>
          </a:solidFill>
          <a:ln w="12700" cap="flat" cmpd="sng">
            <a:solidFill>
              <a:srgbClr val="FF6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451600" y="2413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02 示例：奇数位 "12345"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51600" y="3048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奇数位 "12345" 需补位，如 01 23 45 或 12 34 50。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11200" y="4762500"/>
            <a:ext cx="10769600" cy="1357630"/>
          </a:xfrm>
          <a:prstGeom prst="roundRect">
            <a:avLst>
              <a:gd name="adj" fmla="val 0"/>
            </a:avLst>
          </a:prstGeom>
          <a:solidFill>
            <a:srgbClr val="FF6000">
              <a:alpha val="8000"/>
            </a:srgbClr>
          </a:solidFill>
          <a:ln w="12700" cap="flat" cmpd="sng">
            <a:solidFill>
              <a:srgbClr val="FF6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00" y="4953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495300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0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关键结论与规范遵循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65200" y="5397500"/>
            <a:ext cx="10261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73737"/>
                </a:solidFill>
                <a:latin typeface="Noto Sans SC"/>
                <a:ea typeface="Noto Sans SC"/>
                <a:cs typeface="Noto Sans SC"/>
                <a:sym typeface="Noto Sans SC"/>
              </a:rPr>
              <a:t>奇数位数字的补位规则（左补/右补、补0/补F）无通用标准，开发时必须严格以具体的</a:t>
            </a:r>
            <a:r>
              <a:rPr lang="en-US" sz="1400" b="1" i="0" u="none" strike="noStrike">
                <a:solidFill>
                  <a:srgbClr val="373737"/>
                </a:solidFill>
                <a:latin typeface="Noto Sans SC"/>
                <a:ea typeface="Noto Sans SC"/>
                <a:cs typeface="Noto Sans SC"/>
                <a:sym typeface="Noto Sans SC"/>
              </a:rPr>
              <a:t>渠道接口文档规范</a:t>
            </a:r>
            <a:r>
              <a:rPr lang="en-US" sz="1400" b="0" i="0" u="none" strike="noStrike">
                <a:solidFill>
                  <a:srgbClr val="373737"/>
                </a:solidFill>
                <a:latin typeface="Noto Sans SC"/>
                <a:ea typeface="Noto Sans SC"/>
                <a:cs typeface="Noto Sans SC"/>
                <a:sym typeface="Noto Sans SC"/>
              </a:rPr>
              <a:t>或对接方提供的协议为准，避免因规则不一致导致解析错误。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Binary 是数据含义，HEX 是显示方式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11200" y="1651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6000">
              <a:alpha val="6000"/>
            </a:srgbClr>
          </a:solidFill>
          <a:ln cap="flat" cmpd="sng">
            <a:solidFill>
              <a:srgbClr val="E65600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65200" y="1841500"/>
            <a:ext cx="476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01 原始字节：0x30 (单字节)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965200" y="2413000"/>
            <a:ext cx="4762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Binary: 00110000 (1字节)，按ASCII解释为字符"0"。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210300" y="1651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6000">
              <a:alpha val="6000"/>
            </a:srgbClr>
          </a:solidFill>
          <a:ln cap="flat" cmpd="sng">
            <a:solidFill>
              <a:srgbClr val="E65600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464300" y="1841500"/>
            <a:ext cx="476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02 文本字符串："30" (双字节)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64300" y="2413000"/>
            <a:ext cx="4762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实际是 ASCII 字节 0x33 0x30 (2字节)。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11200" y="4381500"/>
            <a:ext cx="76200" cy="13970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87400" y="4381500"/>
            <a:ext cx="10693400" cy="1397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41400" y="45466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避坑指南：区分“可视化呈现”与“实际传输”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日志中打印的 HEX 字符串是给人阅读的“翻译结果”，并非机器间传输的原始二进制流。若在代码中直接将字符串 "30" 写入流中，会导致接收方解析出两个独立字符而非一个字节，这是硬件通信与接口对接中极易出现的隐蔽错误。</a:t>
            </a:r>
            <a:endParaRPr lang="en-US" sz="1400" b="0" i="0" u="none" strike="noStrike">
              <a:solidFill>
                <a:srgbClr val="525252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762000"/>
            <a:ext cx="2540000" cy="2540000"/>
          </a:xfrm>
          <a:prstGeom prst="ellipse">
            <a:avLst/>
          </a:prstGeom>
          <a:solidFill>
            <a:srgbClr val="FF6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508000" y="5588000"/>
            <a:ext cx="1524000" cy="1524000"/>
          </a:xfrm>
          <a:prstGeom prst="ellipse">
            <a:avLst/>
          </a:prstGeom>
          <a:solidFill>
            <a:srgbClr val="FF6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用一笔 0200 消费请求理解常见字段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397000"/>
            <a:ext cx="10769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通过标准金融交易报文中的核心数据域拆解，直观展示 MTI 及关键 DE 域的定义、取值规则与业务含义，帮助快速建立报文结构认知。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11200" y="2286000"/>
          <a:ext cx="10769600" cy="330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2667000"/>
                <a:gridCol w="6197600"/>
              </a:tblGrid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6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关键数据域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FF6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000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6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示例取值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FF6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000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6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业务含义与解析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FF6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000">
                        <a:alpha val="8000"/>
                      </a:srgbClr>
                    </a:solidFill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2525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MTI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FF6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24242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0200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FF6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16161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消息类型标识符，用于区分交易类型，“0200”特指金融类的消费交易请求。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FF6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2525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DE3 处理码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24242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000000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16161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定义交易的具体处理规则与业务属性，如是否为分期付款、是否有积分等。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2525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DE4 交易金额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24242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000000001000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16161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金额示例 (10.00元)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2525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DE11 跟踪号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24242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123456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16161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终端系统生成的唯一流水号（STAN），用于交易的唯一标识与后续的差错处理。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2525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DE41 终端号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24242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SUNMI001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16161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交易终端的唯一标识（TID），用于区分不同的受理终端设备。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2525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DE64 MAC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24242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A1B2C3D4E5F60708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16161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  <a:cs typeface="阿里巴巴普惠体" panose="00020600040101010101" charset="-122"/>
                          <a:sym typeface="阿里巴巴普惠体" panose="00020600040101010101" charset="-122"/>
                        </a:rPr>
                        <a:t>MAC 展示值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报文按照域号从小到大排列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11200" y="1397000"/>
            <a:ext cx="10769600" cy="1587500"/>
          </a:xfrm>
          <a:prstGeom prst="roundRect">
            <a:avLst>
              <a:gd name="adj" fmla="val 0"/>
            </a:avLst>
          </a:prstGeom>
          <a:solidFill>
            <a:srgbClr val="FF6000">
              <a:alpha val="6000"/>
            </a:srgbClr>
          </a:solidFill>
          <a:ln cap="flat" cmpd="sng">
            <a:solidFill>
              <a:srgbClr val="E65600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65200" y="1549400"/>
            <a:ext cx="10261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01 报文核心逻辑结构示例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965200" y="1968500"/>
            <a:ext cx="10261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基础头域：</a:t>
            </a:r>
            <a:r>
              <a:rPr lang="en-US" sz="1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MTI:0200</a:t>
            </a:r>
            <a:r>
              <a:rPr lang="en-US" sz="1400" b="0" i="0" u="none" strike="noStrike">
                <a:solidFill>
                  <a:srgbClr val="99999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（请求类交易） |</a:t>
            </a:r>
            <a:r>
              <a:rPr lang="en-US" sz="1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Bitmap:3020040000C08001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域顺序：</a:t>
            </a:r>
            <a:r>
              <a:rPr lang="en-US" sz="1400" b="0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DE03(处理码) → DE04(金额) → DE11(跟踪号) → DE22(输入方式) → DE41(终端号) → DE42(商户号) → DE49(货币) → DE64(MAC)</a:t>
            </a:r>
            <a:endParaRPr lang="en-US" sz="1400" b="0" i="0" u="none" strike="noStrike">
              <a:solidFill>
                <a:srgbClr val="333333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11200" y="3175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33782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20800" y="33782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1. 准备字段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400" y="3835400"/>
            <a:ext cx="30226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梳理必选与可选数据元，核对字段格式、长度及取值范围，确保数据源真实有效。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3175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4700" y="33782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991100" y="33782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2. 生成Bitmap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84700" y="3835400"/>
            <a:ext cx="30226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基于实际字段按位映射生成Bitmap，它是接收方识别报文结构的“索引表”，需准确映射。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3175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33782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661400" y="33782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3. 按域号升序写入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3835400"/>
            <a:ext cx="30226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严格按域号从小到大的物理顺序拼接字段，顺序错误将导致接收方解析失败。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1200" y="5143500"/>
            <a:ext cx="10769600" cy="762000"/>
          </a:xfrm>
          <a:prstGeom prst="roundRect">
            <a:avLst>
              <a:gd name="adj" fmla="val 0"/>
            </a:avLst>
          </a:prstGeom>
          <a:solidFill>
            <a:srgbClr val="FF6000">
              <a:alpha val="8000"/>
            </a:srgbClr>
          </a:solidFill>
          <a:ln cap="flat" cmpd="sng">
            <a:solidFill>
              <a:srgbClr val="E65600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11200" y="5143500"/>
            <a:ext cx="50800" cy="7620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65200" y="5308600"/>
            <a:ext cx="10388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避坑指南：</a:t>
            </a:r>
            <a:r>
              <a:rPr lang="en-US" sz="1400" b="0" i="0" u="none" strike="noStrike">
                <a:solidFill>
                  <a:srgbClr val="3C3C3C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严禁写入不存在的域字段，也禁止仅修改Bitmap而不同步添加字段数据（“有标无实”），这两种错误均会导致交易被拒。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762000"/>
            <a:ext cx="2540000" cy="2540000"/>
          </a:xfrm>
          <a:prstGeom prst="ellipse">
            <a:avLst/>
          </a:prstGeom>
          <a:solidFill>
            <a:srgbClr val="FF6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508000" y="5588000"/>
            <a:ext cx="1524000" cy="1524000"/>
          </a:xfrm>
          <a:prstGeom prst="ellipse">
            <a:avLst/>
          </a:prstGeom>
          <a:solidFill>
            <a:srgbClr val="FF6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组包分为业务组装和字节编码两个阶段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778000"/>
            <a:ext cx="2082800" cy="2667000"/>
          </a:xfrm>
          <a:prstGeom prst="roundRect">
            <a:avLst>
              <a:gd name="adj" fmla="val 0"/>
            </a:avLst>
          </a:prstGeom>
          <a:solidFill>
            <a:srgbClr val="FF6000">
              <a:alpha val="5000"/>
            </a:srgbClr>
          </a:solidFill>
          <a:ln w="12700" cap="flat" cmpd="sng">
            <a:solidFill>
              <a:srgbClr val="FF6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11200" y="1778000"/>
            <a:ext cx="2082800" cy="508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32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914400" y="2540000"/>
            <a:ext cx="167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01 选择MTI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400" y="3175000"/>
            <a:ext cx="1676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匹配MTI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895600" y="1778000"/>
            <a:ext cx="2082800" cy="2667000"/>
          </a:xfrm>
          <a:prstGeom prst="roundRect">
            <a:avLst>
              <a:gd name="adj" fmla="val 0"/>
            </a:avLst>
          </a:prstGeom>
          <a:solidFill>
            <a:srgbClr val="FF6000">
              <a:alpha val="5000"/>
            </a:srgbClr>
          </a:solidFill>
          <a:ln w="12700" cap="flat" cmpd="sng">
            <a:solidFill>
              <a:srgbClr val="FF6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2895600" y="1778000"/>
            <a:ext cx="2082800" cy="508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98800" y="2032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098800" y="2540000"/>
            <a:ext cx="167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02 准备字段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098800" y="3175000"/>
            <a:ext cx="1676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填充字段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080000" y="1778000"/>
            <a:ext cx="2082800" cy="2667000"/>
          </a:xfrm>
          <a:prstGeom prst="roundRect">
            <a:avLst>
              <a:gd name="adj" fmla="val 0"/>
            </a:avLst>
          </a:prstGeom>
          <a:solidFill>
            <a:srgbClr val="FF6000">
              <a:alpha val="5000"/>
            </a:srgbClr>
          </a:solidFill>
          <a:ln w="12700" cap="flat" cmpd="sng">
            <a:solidFill>
              <a:srgbClr val="FF6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080000" y="1778000"/>
            <a:ext cx="2082800" cy="508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83200" y="2032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283200" y="2540000"/>
            <a:ext cx="167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03 校验数据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283200" y="3175000"/>
            <a:ext cx="1676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核验数据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264400" y="1778000"/>
            <a:ext cx="2082800" cy="2667000"/>
          </a:xfrm>
          <a:prstGeom prst="roundRect">
            <a:avLst>
              <a:gd name="adj" fmla="val 0"/>
            </a:avLst>
          </a:prstGeom>
          <a:solidFill>
            <a:srgbClr val="FF6000">
              <a:alpha val="5000"/>
            </a:srgbClr>
          </a:solidFill>
          <a:ln w="12700" cap="flat" cmpd="sng">
            <a:solidFill>
              <a:srgbClr val="FF6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264400" y="1778000"/>
            <a:ext cx="2082800" cy="508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67600" y="20320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467600" y="2540000"/>
            <a:ext cx="167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04 生成报文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467600" y="3175000"/>
            <a:ext cx="1676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转换编码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448800" y="1778000"/>
            <a:ext cx="2082800" cy="2667000"/>
          </a:xfrm>
          <a:prstGeom prst="roundRect">
            <a:avLst>
              <a:gd name="adj" fmla="val 0"/>
            </a:avLst>
          </a:prstGeom>
          <a:solidFill>
            <a:srgbClr val="FF6000">
              <a:alpha val="5000"/>
            </a:srgbClr>
          </a:solidFill>
          <a:ln w="12700" cap="flat" cmpd="sng">
            <a:solidFill>
              <a:srgbClr val="FF60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448800" y="1778000"/>
            <a:ext cx="2082800" cy="508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2000" y="20320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652000" y="2540000"/>
            <a:ext cx="167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05 封装发送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652000" y="3175000"/>
            <a:ext cx="1676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封装发送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11200" y="4953000"/>
            <a:ext cx="10820400" cy="1090295"/>
          </a:xfrm>
          <a:prstGeom prst="roundRect">
            <a:avLst>
              <a:gd name="adj" fmla="val 0"/>
            </a:avLst>
          </a:prstGeom>
          <a:solidFill>
            <a:srgbClr val="FF60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4400" y="5270500"/>
            <a:ext cx="279400" cy="2794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320800" y="5156200"/>
            <a:ext cx="1003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核心规范：</a:t>
            </a:r>
            <a:r>
              <a:rPr lang="en-US" sz="1400" b="0" i="0" u="none" strike="noStrike">
                <a:solidFill>
                  <a:srgbClr val="3C3C3C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MAC计算范围、字段补位方式、加密算法及密钥索引均由渠道方定义。开发时需严格核对接口文档，避免因参数不匹配导致交易失败。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762000"/>
            <a:ext cx="2540000" cy="2540000"/>
          </a:xfrm>
          <a:prstGeom prst="ellipse">
            <a:avLst/>
          </a:prstGeom>
          <a:solidFill>
            <a:srgbClr val="FF6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508000" y="5715000"/>
            <a:ext cx="1524000" cy="1524000"/>
          </a:xfrm>
          <a:prstGeom prst="ellipse">
            <a:avLst/>
          </a:prstGeom>
          <a:solidFill>
            <a:srgbClr val="FF6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解包的关键是严格按 Bitmap 和字段定义读取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651000"/>
            <a:ext cx="2082800" cy="2794000"/>
          </a:xfrm>
          <a:prstGeom prst="roundRect">
            <a:avLst>
              <a:gd name="adj" fmla="val 0"/>
            </a:avLst>
          </a:prstGeom>
          <a:solidFill>
            <a:srgbClr val="FF6000">
              <a:alpha val="3000"/>
            </a:srgbClr>
          </a:solidFill>
          <a:ln w="12700" cap="flat" cmpd="sng">
            <a:solidFill>
              <a:srgbClr val="FF600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38200" y="18415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01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2413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38200" y="2921000"/>
            <a:ext cx="1828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解析封装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38200" y="3365500"/>
            <a:ext cx="1828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剥离渠道封装，还原报文结构。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895600" y="1651000"/>
            <a:ext cx="2082800" cy="2794000"/>
          </a:xfrm>
          <a:prstGeom prst="roundRect">
            <a:avLst>
              <a:gd name="adj" fmla="val 0"/>
            </a:avLst>
          </a:prstGeom>
          <a:solidFill>
            <a:srgbClr val="FF6000">
              <a:alpha val="3000"/>
            </a:srgbClr>
          </a:solidFill>
          <a:ln w="12700" cap="flat" cmpd="sng">
            <a:solidFill>
              <a:srgbClr val="FF600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022600" y="18415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02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2600" y="2413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022600" y="2921000"/>
            <a:ext cx="1828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读取MTI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022600" y="3365500"/>
            <a:ext cx="1828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提取MTI，判断交易属性。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080000" y="1651000"/>
            <a:ext cx="2082800" cy="2794000"/>
          </a:xfrm>
          <a:prstGeom prst="roundRect">
            <a:avLst>
              <a:gd name="adj" fmla="val 0"/>
            </a:avLst>
          </a:prstGeom>
          <a:solidFill>
            <a:srgbClr val="FF6000">
              <a:alpha val="3000"/>
            </a:srgbClr>
          </a:solidFill>
          <a:ln w="12700" cap="flat" cmpd="sng">
            <a:solidFill>
              <a:srgbClr val="FF600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207000" y="18415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03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7000" y="2413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207000" y="2921000"/>
            <a:ext cx="1828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读取Bitmap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207000" y="3365500"/>
            <a:ext cx="1828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解析主位图及扩展位图，识别有效字段。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264400" y="1651000"/>
            <a:ext cx="2082800" cy="2794000"/>
          </a:xfrm>
          <a:prstGeom prst="roundRect">
            <a:avLst>
              <a:gd name="adj" fmla="val 0"/>
            </a:avLst>
          </a:prstGeom>
          <a:solidFill>
            <a:srgbClr val="FF6000">
              <a:alpha val="3000"/>
            </a:srgbClr>
          </a:solidFill>
          <a:ln w="12700" cap="flat" cmpd="sng">
            <a:solidFill>
              <a:srgbClr val="FF600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391400" y="18415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04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91400" y="24130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391400" y="2921000"/>
            <a:ext cx="1828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解析字段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391400" y="3365500"/>
            <a:ext cx="1828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按定义解析各数据域。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448800" y="1651000"/>
            <a:ext cx="2082800" cy="2794000"/>
          </a:xfrm>
          <a:prstGeom prst="roundRect">
            <a:avLst>
              <a:gd name="adj" fmla="val 0"/>
            </a:avLst>
          </a:prstGeom>
          <a:solidFill>
            <a:srgbClr val="FF6000">
              <a:alpha val="3000"/>
            </a:srgbClr>
          </a:solidFill>
          <a:ln w="12700" cap="flat" cmpd="sng">
            <a:solidFill>
              <a:srgbClr val="FF600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575800" y="1841500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05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75800" y="24130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575800" y="2921000"/>
            <a:ext cx="1828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校验处理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575800" y="3365500"/>
            <a:ext cx="1828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校验报文完整性与有效性。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11200" y="4826000"/>
            <a:ext cx="10820400" cy="1016000"/>
          </a:xfrm>
          <a:prstGeom prst="roundRect">
            <a:avLst>
              <a:gd name="adj" fmla="val 0"/>
            </a:avLst>
          </a:prstGeom>
          <a:solidFill>
            <a:srgbClr val="FF6000">
              <a:alpha val="8000"/>
            </a:srgbClr>
          </a:solidFill>
          <a:ln w="12700" cap="flat" cmpd="sng">
            <a:solidFill>
              <a:srgbClr val="FF6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5200" y="50292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397000" y="497840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核心排错技巧：</a:t>
            </a:r>
            <a:r>
              <a:rPr lang="en-US" sz="1400" b="0" i="0" u="none" strike="noStrike">
                <a:solidFill>
                  <a:srgbClr val="525252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若出现字段解析错位或乱码，90%以上的原因是前一个**变长字段（LLVAR/LLLVAR）**的长度头计算错误或编码格式（ASCII/Hex）不匹配，需重点回溯检查。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FF6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1905000" cy="1905000"/>
          </a:xfrm>
          <a:prstGeom prst="ellipse">
            <a:avLst/>
          </a:prstGeom>
          <a:solidFill>
            <a:srgbClr val="FF6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收到响应不等于交易状态一定明确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397000"/>
            <a:ext cx="3454400" cy="1714500"/>
          </a:xfrm>
          <a:prstGeom prst="roundRect">
            <a:avLst>
              <a:gd name="adj" fmla="val 0"/>
            </a:avLst>
          </a:prstGeom>
          <a:solidFill>
            <a:srgbClr val="FF6000">
              <a:alpha val="6000"/>
            </a:srgbClr>
          </a:solidFill>
          <a:ln w="12700" cap="flat" cmpd="sng">
            <a:solidFill>
              <a:srgbClr val="FF6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6002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20800" y="15875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01 通信层：通路校验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14400" y="2032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连接是否正常，报文是否完整收发。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68800" y="1397000"/>
            <a:ext cx="3454400" cy="1714500"/>
          </a:xfrm>
          <a:prstGeom prst="roundRect">
            <a:avLst>
              <a:gd name="adj" fmla="val 0"/>
            </a:avLst>
          </a:prstGeom>
          <a:solidFill>
            <a:srgbClr val="FF6000">
              <a:alpha val="6000"/>
            </a:srgbClr>
          </a:solidFill>
          <a:ln w="12700" cap="flat" cmpd="sng">
            <a:solidFill>
              <a:srgbClr val="FF6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6002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78400" y="15875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02 报文层：结构校验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2032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MTI、Bitmap、长度、MAC是否正确。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26400" y="1397000"/>
            <a:ext cx="3454400" cy="1714500"/>
          </a:xfrm>
          <a:prstGeom prst="roundRect">
            <a:avLst>
              <a:gd name="adj" fmla="val 0"/>
            </a:avLst>
          </a:prstGeom>
          <a:solidFill>
            <a:srgbClr val="FF6000">
              <a:alpha val="6000"/>
            </a:srgbClr>
          </a:solidFill>
          <a:ln w="12700" cap="flat" cmpd="sng">
            <a:solidFill>
              <a:srgbClr val="FF6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0" y="16002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36000" y="15875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03 业务层：结果判定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29600" y="2032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DE39结果含义，是否需查询/冲正/对账。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11200" y="3302000"/>
            <a:ext cx="10769600" cy="939800"/>
          </a:xfrm>
          <a:prstGeom prst="roundRect">
            <a:avLst>
              <a:gd name="adj" fmla="val 0"/>
            </a:avLst>
          </a:prstGeom>
          <a:solidFill>
            <a:srgbClr val="FF6000">
              <a:alpha val="8000"/>
            </a:srgbClr>
          </a:solidFill>
          <a:ln w="12700" cap="flat" cmpd="sng">
            <a:solidFill>
              <a:srgbClr val="FF6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3454400"/>
            <a:ext cx="279400" cy="279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20800" y="345440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核心认知：</a:t>
            </a:r>
            <a:r>
              <a:rPr lang="en-US" sz="1400" b="0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DE39是主机的“瞬时处理结果”，非“最终状态”。若遇超时、断链，交易可能处于“未知状态”，需通过</a:t>
            </a:r>
            <a:r>
              <a:rPr lang="en-US" sz="14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异步查询、日终对账</a:t>
            </a:r>
            <a:r>
              <a:rPr lang="en-US" sz="1400" b="0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或冲正机制确权，切忌仅凭响应码下定论。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1200" y="4394200"/>
            <a:ext cx="5283200" cy="6858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9000" y="46101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219200" y="4495800"/>
            <a:ext cx="469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无响应：</a:t>
            </a: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排查网络、防火墙、报文长度。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11200" y="5105400"/>
            <a:ext cx="5283200" cy="6858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9000" y="53213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219200" y="5207000"/>
            <a:ext cx="469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格式错误：</a:t>
            </a: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校验MTI、Bitmap、关键字段。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197600" y="4394200"/>
            <a:ext cx="5283200" cy="6858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75400" y="4610100"/>
            <a:ext cx="254000" cy="254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705600" y="4495800"/>
            <a:ext cx="469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MAC校验失败：</a:t>
            </a: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核对密钥、加密字段、算法规则。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197600" y="5105400"/>
            <a:ext cx="5283200" cy="6858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75400" y="5321300"/>
            <a:ext cx="254000" cy="254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705600" y="5207000"/>
            <a:ext cx="469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乱码/金额错：</a:t>
            </a: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统一字符集、确认金额单位与补位。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1016000"/>
            <a:ext cx="2540000" cy="2540000"/>
          </a:xfrm>
          <a:prstGeom prst="ellipse">
            <a:avLst/>
          </a:prstGeom>
          <a:solidFill>
            <a:srgbClr val="FF6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508000" y="5715000"/>
            <a:ext cx="1524000" cy="1524000"/>
          </a:xfrm>
          <a:prstGeom prst="ellipse">
            <a:avLst/>
          </a:prstGeom>
          <a:solidFill>
            <a:srgbClr val="FF6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457200"/>
            <a:ext cx="1076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掌握结构、长度和编码，就能开始定位报文问题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15240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01 核心要点回顾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" y="2222500"/>
            <a:ext cx="76200" cy="2540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14400" y="2184400"/>
            <a:ext cx="5016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ISO 8583 是银行卡交易消息的共同表达框架。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" y="2984500"/>
            <a:ext cx="76200" cy="2540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14400" y="2946400"/>
            <a:ext cx="5016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MTI 描述消息性质，Bitmap 描述字段是否存在。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" y="3746500"/>
            <a:ext cx="76200" cy="2540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14400" y="3708400"/>
            <a:ext cx="5016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数据域必须按域号和字段规范解析。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11200" y="4508500"/>
            <a:ext cx="76200" cy="2540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14400" y="4470400"/>
            <a:ext cx="5016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长度与编码是组包解包最容易出错的地方。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11200" y="5270500"/>
            <a:ext cx="76200" cy="254000"/>
          </a:xfrm>
          <a:prstGeom prst="roundRect">
            <a:avLst>
              <a:gd name="adj" fmla="val 0"/>
            </a:avLst>
          </a:prstGeom>
          <a:solidFill>
            <a:srgbClr val="FF6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14400" y="5232400"/>
            <a:ext cx="5016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实际实现必须以银联或收单机构接口规范为准。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73800" y="15240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02 课堂实战练习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73800" y="2159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60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00800" y="2260600"/>
            <a:ext cx="4953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6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已知报文要素：</a:t>
            </a:r>
            <a:br>
              <a:rPr lang="en-US" sz="1600" b="0" i="0" u="none" strike="noStrike">
                <a:solidFill>
                  <a:srgbClr val="1F232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MTI=0210，Bitmap=3020040002C08001</a:t>
            </a:r>
            <a:br>
              <a:rPr lang="en-US" sz="1600" b="0" i="0" u="none" strike="noStrike">
                <a:solidFill>
                  <a:srgbClr val="1F232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DE3=000000，DE4=000000001000，DE11=123456</a:t>
            </a:r>
            <a:br>
              <a:rPr lang="en-US" sz="1600" b="0" i="0" u="none" strike="noStrike">
                <a:solidFill>
                  <a:srgbClr val="1F232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DE22=051，DE39=05，DE41=SUNMI001，DE42=123456789012345</a:t>
            </a:r>
            <a:br>
              <a:rPr lang="en-US" sz="1600" b="0" i="0" u="none" strike="noStrike">
                <a:solidFill>
                  <a:srgbClr val="1F232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DE49=156，DE64=8字节MAC校验值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73800" y="4000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2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00800" y="4127500"/>
            <a:ext cx="495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5252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思考与讨论：</a:t>
            </a:r>
            <a:br>
              <a:rPr lang="en-US" sz="1600" b="0" i="0" u="none" strike="noStrike">
                <a:solidFill>
                  <a:srgbClr val="1F232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1. 从MTI=0210判断，该报文是交易请求还是响应？</a:t>
            </a:r>
            <a:br>
              <a:rPr lang="en-US" sz="1600" b="0" i="0" u="none" strike="noStrike">
                <a:solidFill>
                  <a:srgbClr val="1F232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2. DE41（终端号）解析错位，应优先排查哪个环节的问题？</a:t>
            </a:r>
            <a:br>
              <a:rPr lang="en-US" sz="1600" b="0" i="0" u="none" strike="noStrike">
                <a:solidFill>
                  <a:srgbClr val="1F232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3. DE39=05通常代表什么含义？能否直接下结论？</a:t>
            </a:r>
            <a:br>
              <a:rPr lang="en-US" sz="1600" b="0" i="0" u="none" strike="noStrike">
                <a:solidFill>
                  <a:srgbClr val="1F2329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4. 如何快速判断Bitmap中包含了哪些数据域？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5437</Words>
  <Application>WPS 文字</Application>
  <PresentationFormat/>
  <Paragraphs>553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Arial</vt:lpstr>
      <vt:lpstr>宋体</vt:lpstr>
      <vt:lpstr>Wingdings</vt:lpstr>
      <vt:lpstr>Arial</vt:lpstr>
      <vt:lpstr>阿里巴巴普惠体</vt:lpstr>
      <vt:lpstr>微软雅黑</vt:lpstr>
      <vt:lpstr>汉仪旗黑</vt:lpstr>
      <vt:lpstr>宋体</vt:lpstr>
      <vt:lpstr>Arial Unicode MS</vt:lpstr>
      <vt:lpstr>汉仪书宋二KW</vt:lpstr>
      <vt:lpstr>Noto Sans SC</vt:lpstr>
      <vt:lpstr>Thonburi</vt:lpstr>
      <vt:lpstr>Noto Sans SC</vt:lpstr>
      <vt:lpstr>苹方-简</vt:lpstr>
      <vt:lpstr>Apple Color Emoji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苏旗</cp:lastModifiedBy>
  <cp:revision>5</cp:revision>
  <dcterms:created xsi:type="dcterms:W3CDTF">2026-07-20T09:50:09Z</dcterms:created>
  <dcterms:modified xsi:type="dcterms:W3CDTF">2026-07-20T09:50:09Z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{"Label":"1","ContentProducer":"001191110102MACQD9K64010000","ProduceID":"7664534876984560602","ReservedCode1":"","ContentPropagator":"","PropagateID":"","ReservedCode2":""}</vt:lpwstr>
  </property>
  <property fmtid="{D5CDD505-2E9C-101B-9397-08002B2CF9AE}" pid="3" name="ICV">
    <vt:lpwstr>753FF06A5E9232942CE65D6A2A2D196C_42</vt:lpwstr>
  </property>
  <property fmtid="{D5CDD505-2E9C-101B-9397-08002B2CF9AE}" pid="4" name="KSOProductBuildVer">
    <vt:lpwstr>2052-12.1.26026.26026</vt:lpwstr>
  </property>
</Properties>
</file>